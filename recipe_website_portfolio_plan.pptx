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774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35240" y="640080"/>
            <a:ext cx="3886200" cy="5440680"/>
          </a:xfrm>
          <a:prstGeom prst="roundRect">
            <a:avLst/>
          </a:prstGeom>
          <a:solidFill>
            <a:srgbClr val="355C46"/>
          </a:solidFill>
          <a:ln>
            <a:solidFill>
              <a:srgbClr val="355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973568" y="960120"/>
            <a:ext cx="3218688" cy="4754880"/>
          </a:xfrm>
          <a:prstGeom prst="roundRect">
            <a:avLst/>
          </a:prstGeom>
          <a:solidFill>
            <a:srgbClr val="E0EBE0"/>
          </a:solidFill>
          <a:ln>
            <a:solidFill>
              <a:srgbClr val="E0E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348472" y="1307592"/>
            <a:ext cx="2468880" cy="4069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13648" y="1572768"/>
            <a:ext cx="192024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355C46"/>
                </a:solidFill>
                <a:latin typeface="Aptos"/>
              </a:rPr>
              <a:t>TODAY'S RECIPE</a:t>
            </a:r>
          </a:p>
        </p:txBody>
      </p:sp>
      <p:sp>
        <p:nvSpPr>
          <p:cNvPr id="6" name="Oval 5"/>
          <p:cNvSpPr/>
          <p:nvPr/>
        </p:nvSpPr>
        <p:spPr>
          <a:xfrm>
            <a:off x="8823960" y="2029968"/>
            <a:ext cx="1554480" cy="1554480"/>
          </a:xfrm>
          <a:prstGeom prst="ellipse">
            <a:avLst/>
          </a:prstGeom>
          <a:solidFill>
            <a:srgbClr val="EFEADF"/>
          </a:solidFill>
          <a:ln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979408" y="2185416"/>
            <a:ext cx="1243584" cy="1243584"/>
          </a:xfrm>
          <a:prstGeom prst="ellipse">
            <a:avLst/>
          </a:prstGeom>
          <a:solidFill>
            <a:srgbClr val="F7E0AF"/>
          </a:solidFill>
          <a:ln>
            <a:solidFill>
              <a:srgbClr val="F7E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253728" y="2395728"/>
            <a:ext cx="164592" cy="164592"/>
          </a:xfrm>
          <a:prstGeom prst="ellipse">
            <a:avLst/>
          </a:prstGeom>
          <a:solidFill>
            <a:srgbClr val="355C46"/>
          </a:solidFill>
          <a:ln>
            <a:solidFill>
              <a:srgbClr val="355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573768" y="2542032"/>
            <a:ext cx="164592" cy="164592"/>
          </a:xfrm>
          <a:prstGeom prst="ellipse">
            <a:avLst/>
          </a:prstGeom>
          <a:solidFill>
            <a:srgbClr val="E7A65A"/>
          </a:solidFill>
          <a:ln>
            <a:solidFill>
              <a:srgbClr val="E7A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189720" y="2788920"/>
            <a:ext cx="164592" cy="164592"/>
          </a:xfrm>
          <a:prstGeom prst="ellipse">
            <a:avLst/>
          </a:prstGeom>
          <a:solidFill>
            <a:srgbClr val="BE5B44"/>
          </a:solidFill>
          <a:ln>
            <a:solidFill>
              <a:srgbClr val="BE5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710928" y="2880360"/>
            <a:ext cx="164592" cy="164592"/>
          </a:xfrm>
          <a:prstGeom prst="ellipse">
            <a:avLst/>
          </a:prstGeom>
          <a:solidFill>
            <a:srgbClr val="355C46"/>
          </a:solidFill>
          <a:ln>
            <a:solidFill>
              <a:srgbClr val="355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482328" y="3072384"/>
            <a:ext cx="164592" cy="164592"/>
          </a:xfrm>
          <a:prstGeom prst="ellipse">
            <a:avLst/>
          </a:prstGeom>
          <a:solidFill>
            <a:srgbClr val="BE5B44"/>
          </a:solidFill>
          <a:ln>
            <a:solidFill>
              <a:srgbClr val="BE5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41080" y="3794760"/>
            <a:ext cx="1874519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30332F"/>
                </a:solidFill>
                <a:latin typeface="Aptos"/>
              </a:rPr>
              <a:t>Bibimbap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4224528"/>
            <a:ext cx="17830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6C7168"/>
                </a:solidFill>
                <a:latin typeface="Aptos"/>
              </a:rPr>
              <a:t>20 MIN  ·  EASY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4645152"/>
            <a:ext cx="1737360" cy="50292"/>
          </a:xfrm>
          <a:prstGeom prst="roundRect">
            <a:avLst/>
          </a:prstGeom>
          <a:solidFill>
            <a:srgbClr val="DEDACF"/>
          </a:solidFill>
          <a:ln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686800" y="4846320"/>
            <a:ext cx="1417320" cy="50292"/>
          </a:xfrm>
          <a:prstGeom prst="roundRect">
            <a:avLst/>
          </a:prstGeom>
          <a:solidFill>
            <a:srgbClr val="DEDACF"/>
          </a:solidFill>
          <a:ln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686800" y="5047488"/>
            <a:ext cx="1600200" cy="50292"/>
          </a:xfrm>
          <a:prstGeom prst="roundRect">
            <a:avLst/>
          </a:prstGeom>
          <a:solidFill>
            <a:srgbClr val="DEDACF"/>
          </a:solidFill>
          <a:ln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" y="658368"/>
            <a:ext cx="41148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55C46"/>
                </a:solidFill>
                <a:latin typeface="Aptos"/>
              </a:rPr>
              <a:t>WEB PROJECT /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1481328"/>
            <a:ext cx="6217920" cy="8229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200" b="1">
                <a:solidFill>
                  <a:srgbClr val="30332F"/>
                </a:solidFill>
                <a:latin typeface="Aptos"/>
              </a:rPr>
              <a:t>오늘의 한 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359152"/>
            <a:ext cx="621792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355C46"/>
                </a:solidFill>
                <a:latin typeface="Aptos"/>
              </a:rPr>
              <a:t>MY RECIPE 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063240"/>
            <a:ext cx="5943600" cy="4114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30332F"/>
                </a:solidFill>
                <a:latin typeface="Aptos"/>
              </a:rPr>
              <a:t>레시피 및 요리 도감 웹사이트 기획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730752"/>
            <a:ext cx="50292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C7168"/>
                </a:solidFill>
                <a:latin typeface="Aptos"/>
              </a:rPr>
              <a:t>HTML · CSS · JavaScript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928616"/>
            <a:ext cx="4937760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ko-KR" altLang="en-US" sz="1600" b="1" dirty="0" smtClean="0">
                <a:solidFill>
                  <a:srgbClr val="355C46"/>
                </a:solidFill>
                <a:latin typeface="Aptos"/>
              </a:rPr>
              <a:t>박태양</a:t>
            </a:r>
            <a:endParaRPr sz="1600" b="1" dirty="0">
              <a:solidFill>
                <a:srgbClr val="355C46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94944" y="5897880"/>
            <a:ext cx="65836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C7168"/>
                </a:solidFill>
                <a:latin typeface="Aptos"/>
              </a:rPr>
              <a:t>4 HTML pages  /  2 JavaScript interactions  /  Responsive layout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" y="6519672"/>
            <a:ext cx="64008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C7168"/>
                </a:solidFill>
                <a:latin typeface="Aptos"/>
              </a:rPr>
              <a:t>MY RECIPE BOOK  ·  WEB PROJECT 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5486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355C46"/>
                </a:solidFill>
                <a:latin typeface="Aptos"/>
              </a:rPr>
              <a:t>01 /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256032"/>
            <a:ext cx="59436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C7168"/>
                </a:solidFill>
                <a:latin typeface="Aptos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603504"/>
            <a:ext cx="11109960" cy="16459"/>
          </a:xfrm>
          <a:prstGeom prst="rect">
            <a:avLst/>
          </a:prstGeom>
          <a:solidFill>
            <a:srgbClr val="DE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09728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30332F"/>
                </a:solidFill>
                <a:latin typeface="Aptos"/>
              </a:rPr>
              <a:t>프로젝트 주제와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417320"/>
            <a:ext cx="1069848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C7168"/>
                </a:solidFill>
                <a:latin typeface="Aptos"/>
              </a:rPr>
              <a:t>누구나 쉽게 탐색하고 따라 할 수 있는 온라인 요리 도감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011680"/>
            <a:ext cx="5166360" cy="3886200"/>
          </a:xfrm>
          <a:prstGeom prst="roundRect">
            <a:avLst/>
          </a:prstGeom>
          <a:solidFill>
            <a:srgbClr val="FFFFFF"/>
          </a:solidFill>
          <a:ln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27432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355C46"/>
                </a:solidFill>
                <a:latin typeface="Aptos"/>
              </a:rPr>
              <a:t>PROJECT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43891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30332F"/>
                </a:solidFill>
                <a:latin typeface="Aptos"/>
              </a:rPr>
              <a:t>오늘의 한 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401568"/>
            <a:ext cx="4297680" cy="10515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30332F"/>
                </a:solidFill>
                <a:latin typeface="Aptos"/>
              </a:rPr>
              <a:t>레시피를 카테고리별로 둘러보고,
재료와 조리 순서를 한눈에 확인하는
초보자 친화형 요리 정보 사이트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" y="4892040"/>
            <a:ext cx="1188720" cy="384048"/>
          </a:xfrm>
          <a:prstGeom prst="roundRect">
            <a:avLst/>
          </a:prstGeom>
          <a:solidFill>
            <a:srgbClr val="E0EBE0"/>
          </a:solidFill>
          <a:ln>
            <a:solidFill>
              <a:srgbClr val="E0E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9264" y="4974336"/>
            <a:ext cx="1042415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355C46"/>
                </a:solidFill>
                <a:latin typeface="Aptos"/>
              </a:rPr>
              <a:t>집밥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4892040"/>
            <a:ext cx="1188720" cy="384048"/>
          </a:xfrm>
          <a:prstGeom prst="roundRect">
            <a:avLst/>
          </a:prstGeom>
          <a:solidFill>
            <a:srgbClr val="EFEADF"/>
          </a:solidFill>
          <a:ln>
            <a:solidFill>
              <a:srgbClr val="EFE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267712" y="4974336"/>
            <a:ext cx="1042415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30332F"/>
                </a:solidFill>
                <a:latin typeface="Aptos"/>
              </a:rPr>
              <a:t>간단 요리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3008" y="4892040"/>
            <a:ext cx="1188720" cy="384048"/>
          </a:xfrm>
          <a:prstGeom prst="roundRect">
            <a:avLst/>
          </a:prstGeom>
          <a:solidFill>
            <a:srgbClr val="FAE6CF"/>
          </a:solidFill>
          <a:ln>
            <a:solidFill>
              <a:srgbClr val="FAE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66160" y="4974336"/>
            <a:ext cx="1042415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30332F"/>
                </a:solidFill>
                <a:latin typeface="Aptos"/>
              </a:rPr>
              <a:t>초보자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148840"/>
            <a:ext cx="27432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30332F"/>
                </a:solidFill>
                <a:latin typeface="Aptos"/>
              </a:rPr>
              <a:t>기획 목표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2697480"/>
            <a:ext cx="475488" cy="457200"/>
          </a:xfrm>
          <a:prstGeom prst="roundRect">
            <a:avLst/>
          </a:prstGeom>
          <a:solidFill>
            <a:srgbClr val="E0EBE0"/>
          </a:solidFill>
          <a:ln>
            <a:solidFill>
              <a:srgbClr val="E0E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18504" y="2807208"/>
            <a:ext cx="292608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355C46"/>
                </a:solidFill>
                <a:latin typeface="Aptos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2697480"/>
            <a:ext cx="18288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0332F"/>
                </a:solidFill>
                <a:latin typeface="Aptos"/>
              </a:rPr>
              <a:t>정보 구조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2980944"/>
            <a:ext cx="438912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C7168"/>
                </a:solidFill>
                <a:latin typeface="Aptos"/>
              </a:rPr>
              <a:t>요리별 재료·시간·난이도·순서를 일관되게 제공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3456432"/>
            <a:ext cx="475488" cy="457200"/>
          </a:xfrm>
          <a:prstGeom prst="roundRect">
            <a:avLst/>
          </a:prstGeom>
          <a:solidFill>
            <a:srgbClr val="E0EBE0"/>
          </a:solidFill>
          <a:ln>
            <a:solidFill>
              <a:srgbClr val="E0E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18504" y="3566160"/>
            <a:ext cx="292608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355C46"/>
                </a:solidFill>
                <a:latin typeface="Aptos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3456432"/>
            <a:ext cx="18288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0332F"/>
                </a:solidFill>
                <a:latin typeface="Aptos"/>
              </a:rPr>
              <a:t>사용 편의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3739896"/>
            <a:ext cx="438912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C7168"/>
                </a:solidFill>
                <a:latin typeface="Aptos"/>
              </a:rPr>
              <a:t>짧은 메뉴 구조와 명확한 페이지 이동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8" y="4215384"/>
            <a:ext cx="475488" cy="457200"/>
          </a:xfrm>
          <a:prstGeom prst="roundRect">
            <a:avLst/>
          </a:prstGeom>
          <a:solidFill>
            <a:srgbClr val="E0EBE0"/>
          </a:solidFill>
          <a:ln>
            <a:solidFill>
              <a:srgbClr val="E0E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18504" y="4325112"/>
            <a:ext cx="292608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355C46"/>
                </a:solidFill>
                <a:latin typeface="Apto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4215384"/>
            <a:ext cx="18288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0332F"/>
                </a:solidFill>
                <a:latin typeface="Aptos"/>
              </a:rPr>
              <a:t>기능 경험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3720" y="4498848"/>
            <a:ext cx="438912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C7168"/>
                </a:solidFill>
                <a:latin typeface="Aptos"/>
              </a:rPr>
              <a:t>필터와 인분 조절로 실제 상호작용 구현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36208" y="4974336"/>
            <a:ext cx="475488" cy="457200"/>
          </a:xfrm>
          <a:prstGeom prst="roundRect">
            <a:avLst/>
          </a:prstGeom>
          <a:solidFill>
            <a:srgbClr val="E0EBE0"/>
          </a:solidFill>
          <a:ln>
            <a:solidFill>
              <a:srgbClr val="E0E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18504" y="5084064"/>
            <a:ext cx="292608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355C46"/>
                </a:solidFill>
                <a:latin typeface="Aptos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4974336"/>
            <a:ext cx="18288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0332F"/>
                </a:solidFill>
                <a:latin typeface="Aptos"/>
              </a:rPr>
              <a:t>시각 완성도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5257799"/>
            <a:ext cx="438912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C7168"/>
                </a:solidFill>
                <a:latin typeface="Aptos"/>
              </a:rPr>
              <a:t>음식 사진과 따뜻한 컬러 시스템 적용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" y="6519672"/>
            <a:ext cx="64008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C7168"/>
                </a:solidFill>
                <a:latin typeface="Aptos"/>
              </a:rPr>
              <a:t>MY RECIPE BOOK  ·  WEB PROJECT 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5486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355C46"/>
                </a:solidFill>
                <a:latin typeface="Aptos"/>
              </a:rPr>
              <a:t>02 / SITE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256032"/>
            <a:ext cx="59436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C7168"/>
                </a:solidFill>
                <a:latin typeface="Aptos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603504"/>
            <a:ext cx="11109960" cy="16459"/>
          </a:xfrm>
          <a:prstGeom prst="rect">
            <a:avLst/>
          </a:prstGeom>
          <a:solidFill>
            <a:srgbClr val="DE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09728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30332F"/>
                </a:solidFill>
                <a:latin typeface="Aptos"/>
              </a:rPr>
              <a:t>웹페이지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417320"/>
            <a:ext cx="1069848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C7168"/>
                </a:solidFill>
                <a:latin typeface="Aptos"/>
              </a:rPr>
              <a:t>역할이 분명한 4개 페이지로 콘텐츠 탐색 흐름 설계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965960"/>
            <a:ext cx="5349240" cy="1755648"/>
          </a:xfrm>
          <a:prstGeom prst="roundRect">
            <a:avLst/>
          </a:prstGeom>
          <a:solidFill>
            <a:srgbClr val="FFFFFF"/>
          </a:solidFill>
          <a:ln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22960" y="2176272"/>
            <a:ext cx="502920" cy="457200"/>
          </a:xfrm>
          <a:prstGeom prst="roundRect">
            <a:avLst/>
          </a:prstGeom>
          <a:solidFill>
            <a:srgbClr val="E0EBE0"/>
          </a:solidFill>
          <a:ln>
            <a:solidFill>
              <a:srgbClr val="E0E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05256" y="2295144"/>
            <a:ext cx="338328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355C46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0472" y="2148840"/>
            <a:ext cx="256032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30332F"/>
                </a:solidFill>
                <a:latin typeface="Aptos"/>
              </a:rPr>
              <a:t>메인 페이지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505456"/>
            <a:ext cx="347472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355C46"/>
                </a:solidFill>
                <a:latin typeface="Aptos"/>
              </a:rPr>
              <a:t>index.html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898648"/>
            <a:ext cx="4663440" cy="6400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30332F"/>
                </a:solidFill>
                <a:latin typeface="Aptos"/>
              </a:defRPr>
            </a:pPr>
            <a:r>
              <a:t>•  대표 배너와 사이트 소개</a:t>
            </a:r>
          </a:p>
          <a:p>
            <a:pPr>
              <a:spcAft>
                <a:spcPts val="300"/>
              </a:spcAft>
              <a:defRPr sz="1100">
                <a:solidFill>
                  <a:srgbClr val="30332F"/>
                </a:solidFill>
                <a:latin typeface="Aptos"/>
              </a:defRPr>
            </a:pPr>
            <a:r>
              <a:t>•  오늘의 추천 레시피</a:t>
            </a:r>
          </a:p>
          <a:p>
            <a:pPr>
              <a:spcAft>
                <a:spcPts val="300"/>
              </a:spcAft>
              <a:defRPr sz="1100">
                <a:solidFill>
                  <a:srgbClr val="30332F"/>
                </a:solidFill>
                <a:latin typeface="Aptos"/>
              </a:defRPr>
            </a:pPr>
            <a:r>
              <a:t>•  인기 요리 · 카테고리 바로가기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36792" y="1965960"/>
            <a:ext cx="5349240" cy="1755648"/>
          </a:xfrm>
          <a:prstGeom prst="roundRect">
            <a:avLst/>
          </a:prstGeom>
          <a:solidFill>
            <a:srgbClr val="FFFFFF"/>
          </a:solidFill>
          <a:ln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537959" y="2176272"/>
            <a:ext cx="502920" cy="457200"/>
          </a:xfrm>
          <a:prstGeom prst="roundRect">
            <a:avLst/>
          </a:prstGeom>
          <a:solidFill>
            <a:srgbClr val="EFEADF"/>
          </a:solidFill>
          <a:ln>
            <a:solidFill>
              <a:srgbClr val="EFE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0255" y="2295144"/>
            <a:ext cx="338328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30332F"/>
                </a:solidFill>
                <a:latin typeface="Apto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5472" y="2148840"/>
            <a:ext cx="256032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30332F"/>
                </a:solidFill>
                <a:latin typeface="Aptos"/>
              </a:rPr>
              <a:t>레시피 목록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14616" y="2505456"/>
            <a:ext cx="347472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355C46"/>
                </a:solidFill>
                <a:latin typeface="Aptos"/>
              </a:rPr>
              <a:t>recipes.html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831" y="2898648"/>
            <a:ext cx="4663440" cy="6400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30332F"/>
                </a:solidFill>
                <a:latin typeface="Aptos"/>
              </a:defRPr>
            </a:pPr>
            <a:r>
              <a:t>•  전체 레시피 카드</a:t>
            </a:r>
          </a:p>
          <a:p>
            <a:pPr>
              <a:spcAft>
                <a:spcPts val="300"/>
              </a:spcAft>
              <a:defRPr sz="1100">
                <a:solidFill>
                  <a:srgbClr val="30332F"/>
                </a:solidFill>
                <a:latin typeface="Aptos"/>
              </a:defRPr>
            </a:pPr>
            <a:r>
              <a:t>•  한식 · 양식 · 디저트</a:t>
            </a:r>
          </a:p>
          <a:p>
            <a:pPr>
              <a:spcAft>
                <a:spcPts val="300"/>
              </a:spcAft>
              <a:defRPr sz="1100">
                <a:solidFill>
                  <a:srgbClr val="30332F"/>
                </a:solidFill>
                <a:latin typeface="Aptos"/>
              </a:defRPr>
            </a:pPr>
            <a:r>
              <a:t>•  조리 시간과 난이도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" y="4023360"/>
            <a:ext cx="5349240" cy="1755648"/>
          </a:xfrm>
          <a:prstGeom prst="roundRect">
            <a:avLst/>
          </a:prstGeom>
          <a:solidFill>
            <a:srgbClr val="FFFFFF"/>
          </a:solidFill>
          <a:ln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22960" y="4233672"/>
            <a:ext cx="502920" cy="457200"/>
          </a:xfrm>
          <a:prstGeom prst="roundRect">
            <a:avLst/>
          </a:prstGeom>
          <a:solidFill>
            <a:srgbClr val="FAE6CF"/>
          </a:solidFill>
          <a:ln>
            <a:solidFill>
              <a:srgbClr val="FAE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" y="4352544"/>
            <a:ext cx="338328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30332F"/>
                </a:solidFill>
                <a:latin typeface="Apto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0472" y="4206240"/>
            <a:ext cx="256032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30332F"/>
                </a:solidFill>
                <a:latin typeface="Aptos"/>
              </a:rPr>
              <a:t>레시피 상세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99616" y="4562856"/>
            <a:ext cx="347472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355C46"/>
                </a:solidFill>
                <a:latin typeface="Aptos"/>
              </a:rPr>
              <a:t>recipe-detail.html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" y="4956048"/>
            <a:ext cx="4663440" cy="6400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30332F"/>
                </a:solidFill>
                <a:latin typeface="Aptos"/>
              </a:defRPr>
            </a:pPr>
            <a:r>
              <a:t>•  대표 이미지와 요리 설명</a:t>
            </a:r>
          </a:p>
          <a:p>
            <a:pPr>
              <a:spcAft>
                <a:spcPts val="300"/>
              </a:spcAft>
              <a:defRPr sz="1100">
                <a:solidFill>
                  <a:srgbClr val="30332F"/>
                </a:solidFill>
                <a:latin typeface="Aptos"/>
              </a:defRPr>
            </a:pPr>
            <a:r>
              <a:t>•  재료 및 조리 순서</a:t>
            </a:r>
          </a:p>
          <a:p>
            <a:pPr>
              <a:spcAft>
                <a:spcPts val="300"/>
              </a:spcAft>
              <a:defRPr sz="1100">
                <a:solidFill>
                  <a:srgbClr val="30332F"/>
                </a:solidFill>
                <a:latin typeface="Aptos"/>
              </a:defRPr>
            </a:pPr>
            <a:r>
              <a:t>•  인분 수 조절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36792" y="4023360"/>
            <a:ext cx="5349240" cy="1755648"/>
          </a:xfrm>
          <a:prstGeom prst="roundRect">
            <a:avLst/>
          </a:prstGeom>
          <a:solidFill>
            <a:srgbClr val="FFFFFF"/>
          </a:solidFill>
          <a:ln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537959" y="4233672"/>
            <a:ext cx="502920" cy="457200"/>
          </a:xfrm>
          <a:prstGeom prst="roundRect">
            <a:avLst/>
          </a:prstGeom>
          <a:solidFill>
            <a:srgbClr val="E0EBE0"/>
          </a:solidFill>
          <a:ln>
            <a:solidFill>
              <a:srgbClr val="E0E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20255" y="4352544"/>
            <a:ext cx="338328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355C46"/>
                </a:solidFill>
                <a:latin typeface="Apto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05472" y="4206240"/>
            <a:ext cx="256032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30332F"/>
                </a:solidFill>
                <a:latin typeface="Aptos"/>
              </a:rPr>
              <a:t>요리 가이드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4616" y="4562856"/>
            <a:ext cx="347472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355C46"/>
                </a:solidFill>
                <a:latin typeface="Aptos"/>
              </a:rPr>
              <a:t>guide.html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831" y="4956048"/>
            <a:ext cx="4663440" cy="6400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30332F"/>
                </a:solidFill>
                <a:latin typeface="Aptos"/>
              </a:defRPr>
            </a:pPr>
            <a:r>
              <a:t>•  기본 조리 도구</a:t>
            </a:r>
          </a:p>
          <a:p>
            <a:pPr>
              <a:spcAft>
                <a:spcPts val="300"/>
              </a:spcAft>
              <a:defRPr sz="1100">
                <a:solidFill>
                  <a:srgbClr val="30332F"/>
                </a:solidFill>
                <a:latin typeface="Aptos"/>
              </a:defRPr>
            </a:pPr>
            <a:r>
              <a:t>•  식재료 · 계량 단위</a:t>
            </a:r>
          </a:p>
          <a:p>
            <a:pPr>
              <a:spcAft>
                <a:spcPts val="300"/>
              </a:spcAft>
              <a:defRPr sz="1100">
                <a:solidFill>
                  <a:srgbClr val="30332F"/>
                </a:solidFill>
                <a:latin typeface="Aptos"/>
              </a:defRPr>
            </a:pPr>
            <a:r>
              <a:t>•  초보자 요리 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199632"/>
            <a:ext cx="10789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55C46"/>
                </a:solidFill>
                <a:latin typeface="Aptos"/>
              </a:rPr>
              <a:t>공통 요소: 헤더 · 내비게이션 · 푸터 · 동일한 색상/버튼 스타일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" y="6519672"/>
            <a:ext cx="64008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C7168"/>
                </a:solidFill>
                <a:latin typeface="Aptos"/>
              </a:rPr>
              <a:t>MY RECIPE BOOK  ·  WEB PROJECT PLAN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5486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355C46"/>
                </a:solidFill>
                <a:latin typeface="Aptos"/>
              </a:rPr>
              <a:t>03 / CONTENT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256032"/>
            <a:ext cx="59436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C7168"/>
                </a:solidFill>
                <a:latin typeface="Aptos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603504"/>
            <a:ext cx="11109960" cy="16459"/>
          </a:xfrm>
          <a:prstGeom prst="rect">
            <a:avLst/>
          </a:prstGeom>
          <a:solidFill>
            <a:srgbClr val="DE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09728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30332F"/>
                </a:solidFill>
                <a:latin typeface="Aptos"/>
              </a:rPr>
              <a:t>주요 구역과 콘텐츠 설계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417320"/>
            <a:ext cx="1069848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C7168"/>
                </a:solidFill>
                <a:latin typeface="Aptos"/>
              </a:rPr>
              <a:t>페이지마다 목적을 나누고, 카드·목록·표를 적절히 조합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48840"/>
            <a:ext cx="3429000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14400" y="2423160"/>
            <a:ext cx="1005840" cy="384048"/>
          </a:xfrm>
          <a:prstGeom prst="roundRect">
            <a:avLst/>
          </a:prstGeom>
          <a:solidFill>
            <a:srgbClr val="E0EBE0"/>
          </a:solidFill>
          <a:ln>
            <a:solidFill>
              <a:srgbClr val="E0E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514600"/>
            <a:ext cx="82296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355C46"/>
                </a:solidFill>
                <a:latin typeface="Aptos"/>
              </a:rPr>
              <a:t>탐색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017520"/>
            <a:ext cx="283464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30332F"/>
                </a:solidFill>
                <a:latin typeface="Aptos"/>
              </a:rPr>
              <a:t>메인 · 레시피 목록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730752"/>
            <a:ext cx="2788920" cy="12801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30332F"/>
                </a:solidFill>
                <a:latin typeface="Aptos"/>
              </a:defRPr>
            </a:pPr>
            <a:r>
              <a:t>•  추천 요리 배너</a:t>
            </a:r>
          </a:p>
          <a:p>
            <a:pPr>
              <a:spcAft>
                <a:spcPts val="1200"/>
              </a:spcAft>
              <a:defRPr sz="1300">
                <a:solidFill>
                  <a:srgbClr val="30332F"/>
                </a:solidFill>
                <a:latin typeface="Aptos"/>
              </a:defRPr>
            </a:pPr>
            <a:r>
              <a:t>•  카테고리 선택</a:t>
            </a:r>
          </a:p>
          <a:p>
            <a:pPr>
              <a:spcAft>
                <a:spcPts val="1200"/>
              </a:spcAft>
              <a:defRPr sz="1300">
                <a:solidFill>
                  <a:srgbClr val="30332F"/>
                </a:solidFill>
                <a:latin typeface="Aptos"/>
              </a:defRPr>
            </a:pPr>
            <a:r>
              <a:t>•  레시피 카드 6개 이상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2148840"/>
            <a:ext cx="3429000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736592" y="2423160"/>
            <a:ext cx="1005840" cy="384048"/>
          </a:xfrm>
          <a:prstGeom prst="roundRect">
            <a:avLst/>
          </a:prstGeom>
          <a:solidFill>
            <a:srgbClr val="EFEADF"/>
          </a:solidFill>
          <a:ln>
            <a:solidFill>
              <a:srgbClr val="EFE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8031" y="2514600"/>
            <a:ext cx="82296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30332F"/>
                </a:solidFill>
                <a:latin typeface="Aptos"/>
              </a:rPr>
              <a:t>이해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017520"/>
            <a:ext cx="283464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30332F"/>
                </a:solidFill>
                <a:latin typeface="Aptos"/>
              </a:rPr>
              <a:t>레시피 상세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3730752"/>
            <a:ext cx="2788920" cy="12801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30332F"/>
                </a:solidFill>
                <a:latin typeface="Aptos"/>
              </a:defRPr>
            </a:pPr>
            <a:r>
              <a:t>•  요리 설명과 대표 사진</a:t>
            </a:r>
          </a:p>
          <a:p>
            <a:pPr>
              <a:spcAft>
                <a:spcPts val="1200"/>
              </a:spcAft>
              <a:defRPr sz="1300">
                <a:solidFill>
                  <a:srgbClr val="30332F"/>
                </a:solidFill>
                <a:latin typeface="Aptos"/>
              </a:defRPr>
            </a:pPr>
            <a:r>
              <a:t>•  재료·수량 표</a:t>
            </a:r>
          </a:p>
          <a:p>
            <a:pPr>
              <a:spcAft>
                <a:spcPts val="1200"/>
              </a:spcAft>
              <a:defRPr sz="1300">
                <a:solidFill>
                  <a:srgbClr val="30332F"/>
                </a:solidFill>
                <a:latin typeface="Aptos"/>
              </a:defRPr>
            </a:pPr>
            <a:r>
              <a:t>•  번호가 있는 조리 단계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02752" y="2148840"/>
            <a:ext cx="3429000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558784" y="2423160"/>
            <a:ext cx="1005840" cy="384048"/>
          </a:xfrm>
          <a:prstGeom prst="roundRect">
            <a:avLst/>
          </a:prstGeom>
          <a:solidFill>
            <a:srgbClr val="FAE6CF"/>
          </a:solidFill>
          <a:ln>
            <a:solidFill>
              <a:srgbClr val="FAE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50224" y="2514600"/>
            <a:ext cx="82296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30332F"/>
                </a:solidFill>
                <a:latin typeface="Aptos"/>
              </a:rPr>
              <a:t>학습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7072" y="3017520"/>
            <a:ext cx="283464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30332F"/>
                </a:solidFill>
                <a:latin typeface="Aptos"/>
              </a:rPr>
              <a:t>요리 가이드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7072" y="3730752"/>
            <a:ext cx="2788920" cy="12801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30332F"/>
                </a:solidFill>
                <a:latin typeface="Aptos"/>
              </a:defRPr>
            </a:pPr>
            <a:r>
              <a:t>•  조리 도구 소개</a:t>
            </a:r>
          </a:p>
          <a:p>
            <a:pPr>
              <a:spcAft>
                <a:spcPts val="1200"/>
              </a:spcAft>
              <a:defRPr sz="1300">
                <a:solidFill>
                  <a:srgbClr val="30332F"/>
                </a:solidFill>
                <a:latin typeface="Aptos"/>
              </a:defRPr>
            </a:pPr>
            <a:r>
              <a:t>•  계량 단위 안내</a:t>
            </a:r>
          </a:p>
          <a:p>
            <a:pPr>
              <a:spcAft>
                <a:spcPts val="1200"/>
              </a:spcAft>
              <a:defRPr sz="1300">
                <a:solidFill>
                  <a:srgbClr val="30332F"/>
                </a:solidFill>
                <a:latin typeface="Aptos"/>
              </a:defRPr>
            </a:pPr>
            <a:r>
              <a:t>•  초보자 FAQ와 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742432"/>
            <a:ext cx="10835640" cy="502920"/>
          </a:xfrm>
          <a:prstGeom prst="roundRect">
            <a:avLst/>
          </a:prstGeom>
          <a:solidFill>
            <a:srgbClr val="E0EBE0"/>
          </a:solidFill>
          <a:ln>
            <a:solidFill>
              <a:srgbClr val="E0E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5879592"/>
            <a:ext cx="1033272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55C46"/>
                </a:solidFill>
                <a:latin typeface="Aptos"/>
              </a:rPr>
              <a:t>콘텐츠 기준: 대표 레시피 6개 + 상세 레시피 1개를 우선 제작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519672"/>
            <a:ext cx="64008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C7168"/>
                </a:solidFill>
                <a:latin typeface="Aptos"/>
              </a:rPr>
              <a:t>MY RECIPE BOOK  ·  WEB PROJECT PLAN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5486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dirty="0">
                <a:solidFill>
                  <a:srgbClr val="355C46"/>
                </a:solidFill>
                <a:latin typeface="Aptos"/>
              </a:rPr>
              <a:t>04 / INTERACTIONS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256032"/>
            <a:ext cx="59436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C7168"/>
                </a:solidFill>
                <a:latin typeface="Aptos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603504"/>
            <a:ext cx="11109960" cy="16459"/>
          </a:xfrm>
          <a:prstGeom prst="rect">
            <a:avLst/>
          </a:prstGeom>
          <a:solidFill>
            <a:srgbClr val="DE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09728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ko-KR" altLang="en-US" sz="2900" b="1" dirty="0" smtClean="0">
                <a:solidFill>
                  <a:srgbClr val="30332F"/>
                </a:solidFill>
                <a:latin typeface="Aptos"/>
              </a:rPr>
              <a:t>주요 </a:t>
            </a:r>
            <a:r>
              <a:rPr sz="2900" b="1" dirty="0" smtClean="0">
                <a:solidFill>
                  <a:srgbClr val="30332F"/>
                </a:solidFill>
                <a:latin typeface="Aptos"/>
              </a:rPr>
              <a:t>JavaScript </a:t>
            </a:r>
            <a:r>
              <a:rPr sz="2900" b="1" dirty="0" err="1" smtClean="0">
                <a:solidFill>
                  <a:srgbClr val="30332F"/>
                </a:solidFill>
                <a:latin typeface="Aptos"/>
              </a:rPr>
              <a:t>기능</a:t>
            </a:r>
            <a:endParaRPr sz="2900" b="1" dirty="0">
              <a:solidFill>
                <a:srgbClr val="30332F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3504" y="1417320"/>
            <a:ext cx="1069848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C7168"/>
                </a:solidFill>
                <a:latin typeface="Aptos"/>
              </a:rPr>
              <a:t>작지만 사용자가 바로 이해할 수 있는 상호작용을 구현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11680"/>
            <a:ext cx="534924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32688" y="2304288"/>
            <a:ext cx="1143000" cy="384048"/>
          </a:xfrm>
          <a:prstGeom prst="roundRect">
            <a:avLst/>
          </a:prstGeom>
          <a:solidFill>
            <a:srgbClr val="E0EBE0"/>
          </a:solidFill>
          <a:ln>
            <a:solidFill>
              <a:srgbClr val="E0E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8" y="2395728"/>
            <a:ext cx="960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355C46"/>
                </a:solidFill>
                <a:latin typeface="Aptos"/>
              </a:rPr>
              <a:t>기능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880360"/>
            <a:ext cx="4389120" cy="4114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30332F"/>
                </a:solidFill>
                <a:latin typeface="Aptos"/>
              </a:rPr>
              <a:t>카테고리 필터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429000"/>
            <a:ext cx="429768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C7168"/>
                </a:solidFill>
                <a:latin typeface="Aptos"/>
              </a:rPr>
              <a:t>한식 · 양식 · 디저트 버튼을 선택하면
해당 카테고리의 카드만 표시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4389120"/>
            <a:ext cx="896112" cy="384048"/>
          </a:xfrm>
          <a:prstGeom prst="roundRect">
            <a:avLst/>
          </a:prstGeom>
          <a:solidFill>
            <a:srgbClr val="355C46"/>
          </a:solidFill>
          <a:ln>
            <a:solidFill>
              <a:srgbClr val="355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489704"/>
            <a:ext cx="804672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전체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93391" y="4389120"/>
            <a:ext cx="896112" cy="384048"/>
          </a:xfrm>
          <a:prstGeom prst="roundRect">
            <a:avLst/>
          </a:prstGeom>
          <a:solidFill>
            <a:srgbClr val="E0EBE0"/>
          </a:solidFill>
          <a:ln>
            <a:solidFill>
              <a:srgbClr val="E0E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039111" y="4489704"/>
            <a:ext cx="804672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355C46"/>
                </a:solidFill>
                <a:latin typeface="Aptos"/>
              </a:rPr>
              <a:t>한식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26663" y="4389120"/>
            <a:ext cx="896112" cy="384048"/>
          </a:xfrm>
          <a:prstGeom prst="roundRect">
            <a:avLst/>
          </a:prstGeom>
          <a:solidFill>
            <a:srgbClr val="EFEADF"/>
          </a:solidFill>
          <a:ln>
            <a:solidFill>
              <a:srgbClr val="EFE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072383" y="4489704"/>
            <a:ext cx="804672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30332F"/>
                </a:solidFill>
                <a:latin typeface="Aptos"/>
              </a:rPr>
              <a:t>양식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59935" y="4389120"/>
            <a:ext cx="896112" cy="384048"/>
          </a:xfrm>
          <a:prstGeom prst="roundRect">
            <a:avLst/>
          </a:prstGeom>
          <a:solidFill>
            <a:srgbClr val="EFEADF"/>
          </a:solidFill>
          <a:ln>
            <a:solidFill>
              <a:srgbClr val="EFE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05655" y="4489704"/>
            <a:ext cx="804672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30332F"/>
                </a:solidFill>
                <a:latin typeface="Aptos"/>
              </a:rPr>
              <a:t>디저트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5074920"/>
            <a:ext cx="45262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355C46"/>
                </a:solidFill>
                <a:latin typeface="Aptos"/>
              </a:rPr>
              <a:t>개념: addEventListener · dataset · classList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2011680"/>
            <a:ext cx="534924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473952" y="2304288"/>
            <a:ext cx="1143000" cy="384048"/>
          </a:xfrm>
          <a:prstGeom prst="roundRect">
            <a:avLst/>
          </a:prstGeom>
          <a:solidFill>
            <a:srgbClr val="EFEADF"/>
          </a:solidFill>
          <a:ln>
            <a:solidFill>
              <a:srgbClr val="EFE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65392" y="2395728"/>
            <a:ext cx="960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30332F"/>
                </a:solidFill>
                <a:latin typeface="Aptos"/>
              </a:rPr>
              <a:t>기능 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2880360"/>
            <a:ext cx="4572000" cy="4114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30332F"/>
                </a:solidFill>
                <a:latin typeface="Aptos"/>
              </a:rPr>
              <a:t>인분 수에 따른 재료 계산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429000"/>
            <a:ext cx="438912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C7168"/>
                </a:solidFill>
                <a:latin typeface="Aptos"/>
              </a:rPr>
              <a:t>기준 2인분에서 인분을 바꾸면
재료 수량이 비율에 맞춰 자동 변경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8" y="4370832"/>
            <a:ext cx="77724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C7168"/>
                </a:solidFill>
                <a:latin typeface="Aptos"/>
              </a:rPr>
              <a:t>인분 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24927" y="4297680"/>
            <a:ext cx="896112" cy="384048"/>
          </a:xfrm>
          <a:prstGeom prst="roundRect">
            <a:avLst/>
          </a:prstGeom>
          <a:solidFill>
            <a:srgbClr val="EFEADF"/>
          </a:solidFill>
          <a:ln>
            <a:solidFill>
              <a:srgbClr val="EFE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52359" y="4398264"/>
            <a:ext cx="841248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30332F"/>
                </a:solidFill>
                <a:latin typeface="Aptos"/>
              </a:rPr>
              <a:t>1인분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49055" y="4297680"/>
            <a:ext cx="896112" cy="384048"/>
          </a:xfrm>
          <a:prstGeom prst="roundRect">
            <a:avLst/>
          </a:prstGeom>
          <a:solidFill>
            <a:srgbClr val="355C46"/>
          </a:solidFill>
          <a:ln>
            <a:solidFill>
              <a:srgbClr val="355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76487" y="4398264"/>
            <a:ext cx="841248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2인분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73184" y="4297680"/>
            <a:ext cx="896112" cy="384048"/>
          </a:xfrm>
          <a:prstGeom prst="roundRect">
            <a:avLst/>
          </a:prstGeom>
          <a:solidFill>
            <a:srgbClr val="EFEADF"/>
          </a:solidFill>
          <a:ln>
            <a:solidFill>
              <a:srgbClr val="EFE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500615" y="4398264"/>
            <a:ext cx="841248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30332F"/>
                </a:solidFill>
                <a:latin typeface="Aptos"/>
              </a:rPr>
              <a:t>4인분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0528" y="5074920"/>
            <a:ext cx="45262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355C46"/>
                </a:solidFill>
                <a:latin typeface="Aptos"/>
              </a:rPr>
              <a:t>개념: 이벤트 처리 · 숫자 계산 · DOM 변경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5989320"/>
            <a:ext cx="106984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C7168"/>
                </a:solidFill>
                <a:latin typeface="Aptos"/>
              </a:rPr>
              <a:t>범위 제외: 검색 · 즐겨찾기 · 리뷰 · API · 서버 · 로그인 · 결제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" y="6519672"/>
            <a:ext cx="64008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C7168"/>
                </a:solidFill>
                <a:latin typeface="Aptos"/>
              </a:rPr>
              <a:t>MY RECIPE BOOK  ·  WEB PROJECT PLAN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5486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355C46"/>
                </a:solidFill>
                <a:latin typeface="Aptos"/>
              </a:rPr>
              <a:t>05 / RESPONSIVE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256032"/>
            <a:ext cx="59436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C7168"/>
                </a:solidFill>
                <a:latin typeface="Aptos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603504"/>
            <a:ext cx="11109960" cy="16459"/>
          </a:xfrm>
          <a:prstGeom prst="rect">
            <a:avLst/>
          </a:prstGeom>
          <a:solidFill>
            <a:srgbClr val="DE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09728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30332F"/>
                </a:solidFill>
                <a:latin typeface="Aptos"/>
              </a:rPr>
              <a:t>반응형 웹페이지 설계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417320"/>
            <a:ext cx="1069848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C7168"/>
                </a:solidFill>
                <a:latin typeface="Aptos"/>
              </a:rPr>
              <a:t>화면 크기에 따라 카드 수와 메뉴 배치를 조정해 다양한 기기에서 읽기 쉽게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2057400"/>
            <a:ext cx="475488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267712"/>
            <a:ext cx="13716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355C46"/>
                </a:solidFill>
                <a:latin typeface="Aptos"/>
              </a:rPr>
              <a:t>DESKTOP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90872"/>
            <a:ext cx="43891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0332F"/>
                </a:solidFill>
                <a:latin typeface="Aptos"/>
              </a:rPr>
              <a:t>넓은 화면: 카드 3열 · 가로 메뉴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2057400"/>
            <a:ext cx="251460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89320" y="2267712"/>
            <a:ext cx="13716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355C46"/>
                </a:solidFill>
                <a:latin typeface="Aptos"/>
              </a:rPr>
              <a:t>TABLET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690872"/>
            <a:ext cx="21945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0332F"/>
                </a:solidFill>
                <a:latin typeface="Aptos"/>
              </a:rPr>
              <a:t>중간 화면: 카드 2열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13648" y="1938528"/>
            <a:ext cx="2011680" cy="2880360"/>
          </a:xfrm>
          <a:prstGeom prst="roundRect">
            <a:avLst/>
          </a:prstGeom>
          <a:solidFill>
            <a:srgbClr val="FFFFFF"/>
          </a:solidFill>
          <a:ln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87968" y="2148840"/>
            <a:ext cx="13716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355C46"/>
                </a:solidFill>
                <a:latin typeface="Aptos"/>
              </a:rPr>
              <a:t>MOBILE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4956048"/>
            <a:ext cx="21488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0332F"/>
                </a:solidFill>
                <a:latin typeface="Aptos"/>
              </a:rPr>
              <a:t>작은 화면: 카드 1열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5486400"/>
            <a:ext cx="10744200" cy="713232"/>
          </a:xfrm>
          <a:prstGeom prst="roundRect">
            <a:avLst/>
          </a:prstGeom>
          <a:solidFill>
            <a:srgbClr val="E0EBE0"/>
          </a:solidFill>
          <a:ln>
            <a:solidFill>
              <a:srgbClr val="E0E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60120" y="5650992"/>
            <a:ext cx="11430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55C46"/>
                </a:solidFill>
                <a:latin typeface="Aptos"/>
              </a:rPr>
              <a:t>적용 기준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48840" y="5650992"/>
            <a:ext cx="8869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0332F"/>
                </a:solidFill>
                <a:latin typeface="Aptos"/>
              </a:rPr>
              <a:t>CSS Grid/Flexbox · 미디어 쿼리 · 유동 너비 · 터치하기 쉬운 버튼 · 이미지 비율 유지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" y="6519672"/>
            <a:ext cx="64008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C7168"/>
                </a:solidFill>
                <a:latin typeface="Aptos"/>
              </a:rPr>
              <a:t>MY RECIPE BOOK  ·  WEB PROJECT PLAN</a:t>
            </a:r>
          </a:p>
        </p:txBody>
      </p:sp>
      <p:pic>
        <p:nvPicPr>
          <p:cNvPr id="38" name="그림 3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350" y="2485549"/>
            <a:ext cx="3712643" cy="1913770"/>
          </a:xfrm>
          <a:prstGeom prst="rect">
            <a:avLst/>
          </a:prstGeom>
        </p:spPr>
      </p:pic>
      <p:pic>
        <p:nvPicPr>
          <p:cNvPr id="39" name="그림 3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107" y="2613355"/>
            <a:ext cx="2203825" cy="1513332"/>
          </a:xfrm>
          <a:prstGeom prst="rect">
            <a:avLst/>
          </a:prstGeom>
        </p:spPr>
      </p:pic>
      <p:pic>
        <p:nvPicPr>
          <p:cNvPr id="40" name="그림 3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7269" y="2364357"/>
            <a:ext cx="1444437" cy="23094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5486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355C46"/>
                </a:solidFill>
                <a:latin typeface="Aptos"/>
              </a:rPr>
              <a:t>06 / 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256032"/>
            <a:ext cx="59436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C7168"/>
                </a:solidFill>
                <a:latin typeface="Aptos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603504"/>
            <a:ext cx="11109960" cy="16459"/>
          </a:xfrm>
          <a:prstGeom prst="rect">
            <a:avLst/>
          </a:prstGeom>
          <a:solidFill>
            <a:srgbClr val="DE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09728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30332F"/>
                </a:solidFill>
                <a:latin typeface="Aptos"/>
              </a:rPr>
              <a:t>파일 구조와 구현 로드맵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417320"/>
            <a:ext cx="1069848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C7168"/>
                </a:solidFill>
                <a:latin typeface="Aptos"/>
              </a:rPr>
              <a:t>단계를 나눠 제작하고, 기능과 화면을 각각 테스트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65960"/>
            <a:ext cx="3931920" cy="4160520"/>
          </a:xfrm>
          <a:prstGeom prst="roundRect">
            <a:avLst/>
          </a:prstGeom>
          <a:solidFill>
            <a:srgbClr val="FFFFFF"/>
          </a:solidFill>
          <a:ln>
            <a:solidFill>
              <a:srgbClr val="DE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2240280"/>
            <a:ext cx="29260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355C46"/>
                </a:solidFill>
                <a:latin typeface="Aptos"/>
              </a:rPr>
              <a:t>PROJECT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670048"/>
            <a:ext cx="3291840" cy="237398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0332F"/>
                </a:solidFill>
                <a:latin typeface="Aptos"/>
              </a:defRPr>
            </a:pPr>
            <a:r>
              <a:rPr dirty="0"/>
              <a:t>my-recipe-book/</a:t>
            </a:r>
          </a:p>
          <a:p>
            <a:pPr>
              <a:spcAft>
                <a:spcPts val="800"/>
              </a:spcAft>
              <a:defRPr sz="1300">
                <a:solidFill>
                  <a:srgbClr val="30332F"/>
                </a:solidFill>
                <a:latin typeface="Aptos"/>
              </a:defRPr>
            </a:pPr>
            <a:r>
              <a:rPr dirty="0"/>
              <a:t>├─ index.html</a:t>
            </a:r>
          </a:p>
          <a:p>
            <a:pPr>
              <a:spcAft>
                <a:spcPts val="800"/>
              </a:spcAft>
              <a:defRPr sz="1300">
                <a:solidFill>
                  <a:srgbClr val="30332F"/>
                </a:solidFill>
                <a:latin typeface="Aptos"/>
              </a:defRPr>
            </a:pPr>
            <a:r>
              <a:rPr dirty="0"/>
              <a:t>├─ recipes.html</a:t>
            </a:r>
          </a:p>
          <a:p>
            <a:pPr>
              <a:spcAft>
                <a:spcPts val="800"/>
              </a:spcAft>
              <a:defRPr sz="1300">
                <a:solidFill>
                  <a:srgbClr val="30332F"/>
                </a:solidFill>
                <a:latin typeface="Aptos"/>
              </a:defRPr>
            </a:pPr>
            <a:r>
              <a:rPr dirty="0"/>
              <a:t>├─ recipe-detail.html</a:t>
            </a:r>
          </a:p>
          <a:p>
            <a:pPr>
              <a:spcAft>
                <a:spcPts val="800"/>
              </a:spcAft>
              <a:defRPr sz="1300">
                <a:solidFill>
                  <a:srgbClr val="30332F"/>
                </a:solidFill>
                <a:latin typeface="Aptos"/>
              </a:defRPr>
            </a:pPr>
            <a:r>
              <a:rPr dirty="0"/>
              <a:t>├─ guide.html</a:t>
            </a:r>
          </a:p>
          <a:p>
            <a:pPr>
              <a:spcAft>
                <a:spcPts val="800"/>
              </a:spcAft>
              <a:defRPr sz="1300">
                <a:solidFill>
                  <a:srgbClr val="30332F"/>
                </a:solidFill>
                <a:latin typeface="Aptos"/>
              </a:defRPr>
            </a:pPr>
            <a:r>
              <a:rPr dirty="0"/>
              <a:t>├─ </a:t>
            </a:r>
            <a:r>
              <a:rPr dirty="0" smtClean="0"/>
              <a:t>style.css</a:t>
            </a:r>
            <a:endParaRPr dirty="0"/>
          </a:p>
          <a:p>
            <a:pPr>
              <a:spcAft>
                <a:spcPts val="800"/>
              </a:spcAft>
              <a:defRPr sz="1300">
                <a:solidFill>
                  <a:srgbClr val="30332F"/>
                </a:solidFill>
                <a:latin typeface="Aptos"/>
              </a:defRPr>
            </a:pPr>
            <a:r>
              <a:rPr dirty="0"/>
              <a:t>├─ </a:t>
            </a:r>
            <a:r>
              <a:rPr lang="en-US" dirty="0" smtClean="0"/>
              <a:t>script</a:t>
            </a:r>
            <a:r>
              <a:rPr dirty="0" smtClean="0"/>
              <a:t>.js</a:t>
            </a:r>
            <a:endParaRPr dirty="0"/>
          </a:p>
          <a:p>
            <a:pPr>
              <a:spcAft>
                <a:spcPts val="800"/>
              </a:spcAft>
              <a:defRPr sz="1300">
                <a:solidFill>
                  <a:srgbClr val="30332F"/>
                </a:solidFill>
                <a:latin typeface="Aptos"/>
              </a:defRPr>
            </a:pPr>
            <a:r>
              <a:rPr dirty="0"/>
              <a:t>└─ images/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5532120"/>
            <a:ext cx="32004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C7168"/>
                </a:solidFill>
                <a:latin typeface="Aptos"/>
              </a:rPr>
              <a:t>공통 CSS/JS를 재사용해 일관성 유지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194560"/>
            <a:ext cx="43891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355C46"/>
                </a:solidFill>
                <a:latin typeface="Aptos"/>
              </a:rPr>
              <a:t>IMPLEMENTATION ROADMAP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02352" y="2606040"/>
            <a:ext cx="438912" cy="384048"/>
          </a:xfrm>
          <a:prstGeom prst="roundRect">
            <a:avLst/>
          </a:prstGeom>
          <a:solidFill>
            <a:srgbClr val="E0EBE0"/>
          </a:solidFill>
          <a:ln>
            <a:solidFill>
              <a:srgbClr val="E0E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75504" y="2706624"/>
            <a:ext cx="292608" cy="14630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355C46"/>
                </a:solidFill>
                <a:latin typeface="Apto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2596896"/>
            <a:ext cx="1645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0332F"/>
                </a:solidFill>
                <a:latin typeface="Aptos"/>
              </a:rPr>
              <a:t>콘텐츠 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7" y="2606040"/>
            <a:ext cx="3749039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C7168"/>
                </a:solidFill>
                <a:latin typeface="Aptos"/>
              </a:rPr>
              <a:t>레시피 6개 + 상세 레시피 1개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02352" y="3246120"/>
            <a:ext cx="438912" cy="384048"/>
          </a:xfrm>
          <a:prstGeom prst="roundRect">
            <a:avLst/>
          </a:prstGeom>
          <a:solidFill>
            <a:srgbClr val="EFEADF"/>
          </a:solidFill>
          <a:ln>
            <a:solidFill>
              <a:srgbClr val="EFE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75504" y="3346703"/>
            <a:ext cx="292608" cy="14630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30332F"/>
                </a:solidFill>
                <a:latin typeface="Apto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3236976"/>
            <a:ext cx="1645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0332F"/>
                </a:solidFill>
                <a:latin typeface="Aptos"/>
              </a:rPr>
              <a:t>HTML 구조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7" y="3246120"/>
            <a:ext cx="3749039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C7168"/>
                </a:solidFill>
                <a:latin typeface="Aptos"/>
              </a:rPr>
              <a:t>4개 페이지와 내비게이션 연결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02352" y="3886200"/>
            <a:ext cx="438912" cy="384048"/>
          </a:xfrm>
          <a:prstGeom prst="roundRect">
            <a:avLst/>
          </a:prstGeom>
          <a:solidFill>
            <a:srgbClr val="E0EBE0"/>
          </a:solidFill>
          <a:ln>
            <a:solidFill>
              <a:srgbClr val="E0E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175504" y="3986784"/>
            <a:ext cx="292608" cy="14630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355C46"/>
                </a:solidFill>
                <a:latin typeface="Apto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0" y="3877056"/>
            <a:ext cx="1645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0332F"/>
                </a:solidFill>
                <a:latin typeface="Aptos"/>
              </a:rPr>
              <a:t>CSS 디자인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7" y="3886200"/>
            <a:ext cx="3749039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C7168"/>
                </a:solidFill>
                <a:latin typeface="Aptos"/>
              </a:rPr>
              <a:t>색상·카드·반응형 레이아웃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02352" y="4526279"/>
            <a:ext cx="438912" cy="384048"/>
          </a:xfrm>
          <a:prstGeom prst="roundRect">
            <a:avLst/>
          </a:prstGeom>
          <a:solidFill>
            <a:srgbClr val="EFEADF"/>
          </a:solidFill>
          <a:ln>
            <a:solidFill>
              <a:srgbClr val="EFE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175504" y="4626864"/>
            <a:ext cx="292608" cy="14630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30332F"/>
                </a:solidFill>
                <a:latin typeface="Aptos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0" y="4517136"/>
            <a:ext cx="1645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0332F"/>
                </a:solidFill>
                <a:latin typeface="Aptos"/>
              </a:rPr>
              <a:t>JavaScript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7" y="4526279"/>
            <a:ext cx="3749039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C7168"/>
                </a:solidFill>
                <a:latin typeface="Aptos"/>
              </a:rPr>
              <a:t>카테고리 필터 + 인분 계산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02352" y="5166360"/>
            <a:ext cx="438912" cy="384048"/>
          </a:xfrm>
          <a:prstGeom prst="roundRect">
            <a:avLst/>
          </a:prstGeom>
          <a:solidFill>
            <a:srgbClr val="E0EBE0"/>
          </a:solidFill>
          <a:ln>
            <a:solidFill>
              <a:srgbClr val="E0E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175504" y="5266944"/>
            <a:ext cx="292608" cy="14630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355C46"/>
                </a:solidFill>
                <a:latin typeface="Aptos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0" y="5157216"/>
            <a:ext cx="1645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0332F"/>
                </a:solidFill>
                <a:latin typeface="Aptos"/>
              </a:rPr>
              <a:t>최종 테스트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24927" y="5166360"/>
            <a:ext cx="3749039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C7168"/>
                </a:solidFill>
                <a:latin typeface="Aptos"/>
              </a:rPr>
              <a:t>링크·모바일·콘솔 오류 확인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02352" y="5897880"/>
            <a:ext cx="6035040" cy="384048"/>
          </a:xfrm>
          <a:prstGeom prst="roundRect">
            <a:avLst/>
          </a:prstGeom>
          <a:solidFill>
            <a:srgbClr val="355C46"/>
          </a:solidFill>
          <a:ln>
            <a:solidFill>
              <a:srgbClr val="355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03520" y="5998464"/>
            <a:ext cx="5623560" cy="24314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dirty="0" err="1">
                <a:solidFill>
                  <a:srgbClr val="FFFFFF"/>
                </a:solidFill>
                <a:latin typeface="Aptos"/>
              </a:rPr>
              <a:t>완료</a:t>
            </a:r>
            <a:r>
              <a:rPr sz="110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1100" b="1" dirty="0" err="1">
                <a:solidFill>
                  <a:srgbClr val="FFFFFF"/>
                </a:solidFill>
                <a:latin typeface="Aptos"/>
              </a:rPr>
              <a:t>기준</a:t>
            </a:r>
            <a:r>
              <a:rPr sz="1100" b="1" dirty="0">
                <a:solidFill>
                  <a:srgbClr val="FFFFFF"/>
                </a:solidFill>
                <a:latin typeface="Aptos"/>
              </a:rPr>
              <a:t>: 4페이지 · 6개 </a:t>
            </a:r>
            <a:r>
              <a:rPr sz="1100" b="1" dirty="0" err="1">
                <a:solidFill>
                  <a:srgbClr val="FFFFFF"/>
                </a:solidFill>
                <a:latin typeface="Aptos"/>
              </a:rPr>
              <a:t>이상</a:t>
            </a:r>
            <a:r>
              <a:rPr sz="110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1100" b="1" dirty="0" err="1">
                <a:solidFill>
                  <a:srgbClr val="FFFFFF"/>
                </a:solidFill>
                <a:latin typeface="Aptos"/>
              </a:rPr>
              <a:t>구역</a:t>
            </a:r>
            <a:r>
              <a:rPr sz="1100" b="1" dirty="0">
                <a:solidFill>
                  <a:srgbClr val="FFFFFF"/>
                </a:solidFill>
                <a:latin typeface="Aptos"/>
              </a:rPr>
              <a:t> · JS </a:t>
            </a:r>
            <a:r>
              <a:rPr sz="1100" b="1" dirty="0" err="1" smtClean="0">
                <a:solidFill>
                  <a:srgbClr val="FFFFFF"/>
                </a:solidFill>
                <a:latin typeface="Aptos"/>
              </a:rPr>
              <a:t>기능</a:t>
            </a:r>
            <a:endParaRPr sz="11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30352" y="6519672"/>
            <a:ext cx="64008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C7168"/>
                </a:solidFill>
                <a:latin typeface="Aptos"/>
              </a:rPr>
              <a:t>MY RECIPE BOOK  ·  WEB PROJECT PLAN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596</Words>
  <Application>Microsoft Office PowerPoint</Application>
  <PresentationFormat>와이드스크린</PresentationFormat>
  <Paragraphs>153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2" baseType="lpstr">
      <vt:lpstr>Aptos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오늘의 한 끼 - 레시피 및 요리 도감 웹사이트 기획</dc:title>
  <dc:subject>HTML, CSS, JavaScript 웹사이트 포트폴리오 기획안</dc:subject>
  <dc:creator>OpenAI</dc:creator>
  <cp:keywords>레시피, 요리 도감, 웹사이트, 포트폴리오, 반응형 웹</cp:keywords>
  <dc:description>generated using python-pptx</dc:description>
  <cp:lastModifiedBy>admin</cp:lastModifiedBy>
  <cp:revision>5</cp:revision>
  <dcterms:created xsi:type="dcterms:W3CDTF">2013-01-27T09:14:16Z</dcterms:created>
  <dcterms:modified xsi:type="dcterms:W3CDTF">2026-10-29T02:29:14Z</dcterms:modified>
  <cp:category/>
</cp:coreProperties>
</file>