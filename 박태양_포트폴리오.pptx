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3" r:id="rId7"/>
    <p:sldId id="274" r:id="rId8"/>
    <p:sldId id="261" r:id="rId9"/>
    <p:sldId id="269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35240" y="640080"/>
            <a:ext cx="3886200" cy="5440680"/>
          </a:xfrm>
          <a:prstGeom prst="roundRect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973568" y="960120"/>
            <a:ext cx="3218688" cy="475488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48472" y="1307592"/>
            <a:ext cx="24688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13648" y="1572768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TODAY'S RECIPE</a:t>
            </a:r>
          </a:p>
        </p:txBody>
      </p:sp>
      <p:sp>
        <p:nvSpPr>
          <p:cNvPr id="6" name="Oval 5"/>
          <p:cNvSpPr/>
          <p:nvPr/>
        </p:nvSpPr>
        <p:spPr>
          <a:xfrm>
            <a:off x="8823960" y="2029968"/>
            <a:ext cx="1554480" cy="1554480"/>
          </a:xfrm>
          <a:prstGeom prst="ellipse">
            <a:avLst/>
          </a:prstGeom>
          <a:solidFill>
            <a:srgbClr val="EFEAD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79408" y="2185416"/>
            <a:ext cx="1243584" cy="1243584"/>
          </a:xfrm>
          <a:prstGeom prst="ellipse">
            <a:avLst/>
          </a:prstGeom>
          <a:solidFill>
            <a:srgbClr val="F7E0AF"/>
          </a:solidFill>
          <a:ln>
            <a:solidFill>
              <a:srgbClr val="F7E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253728" y="2395728"/>
            <a:ext cx="164592" cy="164592"/>
          </a:xfrm>
          <a:prstGeom prst="ellipse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73768" y="2542032"/>
            <a:ext cx="164592" cy="164592"/>
          </a:xfrm>
          <a:prstGeom prst="ellipse">
            <a:avLst/>
          </a:prstGeom>
          <a:solidFill>
            <a:srgbClr val="E7A65A"/>
          </a:solidFill>
          <a:ln>
            <a:solidFill>
              <a:srgbClr val="E7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89720" y="2788920"/>
            <a:ext cx="164592" cy="164592"/>
          </a:xfrm>
          <a:prstGeom prst="ellipse">
            <a:avLst/>
          </a:prstGeom>
          <a:solidFill>
            <a:srgbClr val="BE5B44"/>
          </a:solidFill>
          <a:ln>
            <a:solidFill>
              <a:srgbClr val="BE5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10928" y="2880360"/>
            <a:ext cx="164592" cy="164592"/>
          </a:xfrm>
          <a:prstGeom prst="ellipse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482328" y="3072384"/>
            <a:ext cx="164592" cy="164592"/>
          </a:xfrm>
          <a:prstGeom prst="ellipse">
            <a:avLst/>
          </a:prstGeom>
          <a:solidFill>
            <a:srgbClr val="BE5B44"/>
          </a:solidFill>
          <a:ln>
            <a:solidFill>
              <a:srgbClr val="BE5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3794760"/>
            <a:ext cx="187451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0332F"/>
                </a:solidFill>
                <a:latin typeface="Aptos"/>
              </a:rPr>
              <a:t>Bibimbap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224528"/>
            <a:ext cx="1783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C7168"/>
                </a:solidFill>
                <a:latin typeface="Aptos"/>
              </a:rPr>
              <a:t>20 MIN  ·  EASY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645152"/>
            <a:ext cx="1737360" cy="50292"/>
          </a:xfrm>
          <a:prstGeom prst="roundRect">
            <a:avLst/>
          </a:prstGeom>
          <a:solidFill>
            <a:srgbClr val="DEDAC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0" y="4846320"/>
            <a:ext cx="1417320" cy="50292"/>
          </a:xfrm>
          <a:prstGeom prst="roundRect">
            <a:avLst/>
          </a:prstGeom>
          <a:solidFill>
            <a:srgbClr val="DEDAC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0" y="5047488"/>
            <a:ext cx="1600200" cy="50292"/>
          </a:xfrm>
          <a:prstGeom prst="roundRect">
            <a:avLst/>
          </a:prstGeom>
          <a:solidFill>
            <a:srgbClr val="DEDAC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658368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WEB PROJECT /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481328"/>
            <a:ext cx="62179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30332F"/>
                </a:solidFill>
                <a:latin typeface="Aptos"/>
              </a:rPr>
              <a:t>오늘의 한 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359152"/>
            <a:ext cx="6217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355C46"/>
                </a:solidFill>
                <a:latin typeface="Aptos"/>
              </a:rPr>
              <a:t>MY RECIPE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63240"/>
            <a:ext cx="5943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30332F"/>
                </a:solidFill>
                <a:latin typeface="Aptos"/>
              </a:rPr>
              <a:t>레시피 및 요리 도감 웹사이트 기획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30752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C7168"/>
                </a:solidFill>
                <a:latin typeface="Aptos"/>
              </a:rPr>
              <a:t>HTML · CSS · 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28616"/>
            <a:ext cx="49377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1600" b="1" dirty="0" smtClean="0">
                <a:solidFill>
                  <a:srgbClr val="355C46"/>
                </a:solidFill>
                <a:latin typeface="Aptos"/>
              </a:rPr>
              <a:t>박태양</a:t>
            </a:r>
            <a:endParaRPr sz="1600" b="1" dirty="0">
              <a:solidFill>
                <a:srgbClr val="355C4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" y="5897880"/>
            <a:ext cx="6583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C7168"/>
                </a:solidFill>
                <a:latin typeface="Aptos"/>
              </a:rPr>
              <a:t>4 HTML pages  /  2 JavaScript interactions  /  Responsive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01 /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C7168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프로젝트 주제와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누구나 쉽게 탐색하고 따라 할 수 있는 온라인 요리 도감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5166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PROJECT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389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0332F"/>
                </a:solidFill>
                <a:latin typeface="Aptos"/>
              </a:rPr>
              <a:t>오늘의 한 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01568"/>
            <a:ext cx="42976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30332F"/>
                </a:solidFill>
                <a:latin typeface="Aptos"/>
              </a:rPr>
              <a:t>레시피를 카테고리별로 둘러보고,
재료와 조리 순서를 한눈에 확인하는
초보자 친화형 요리 정보 사이트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892040"/>
            <a:ext cx="1188720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4974336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집밥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892040"/>
            <a:ext cx="1188720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67712" y="4974336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간단 요리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4892040"/>
            <a:ext cx="1188720" cy="384048"/>
          </a:xfrm>
          <a:prstGeom prst="roundRect">
            <a:avLst/>
          </a:prstGeom>
          <a:solidFill>
            <a:srgbClr val="FAE6CF"/>
          </a:solidFill>
          <a:ln>
            <a:solidFill>
              <a:srgbClr val="FA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4974336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초보자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48840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30332F"/>
                </a:solidFill>
                <a:latin typeface="Aptos"/>
              </a:rPr>
              <a:t>기획 목표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697480"/>
            <a:ext cx="475488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2807208"/>
            <a:ext cx="2926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69748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0332F"/>
                </a:solidFill>
                <a:latin typeface="Aptos"/>
              </a:rPr>
              <a:t>정보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80944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요리별 재료·시간·난이도·순서를 일관되게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456432"/>
            <a:ext cx="475488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8504" y="3566160"/>
            <a:ext cx="2926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45643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0332F"/>
                </a:solidFill>
                <a:latin typeface="Aptos"/>
              </a:rPr>
              <a:t>사용 편의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739896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짧은 메뉴 구조와 명확한 페이지 이동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215384"/>
            <a:ext cx="475488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8504" y="4325112"/>
            <a:ext cx="2926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215384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0332F"/>
                </a:solidFill>
                <a:latin typeface="Aptos"/>
              </a:rPr>
              <a:t>기능 경험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498848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필터와 인분 조절로 실제 상호작용 구현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4974336"/>
            <a:ext cx="475488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4" y="5084064"/>
            <a:ext cx="2926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974336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0332F"/>
                </a:solidFill>
                <a:latin typeface="Aptos"/>
              </a:rPr>
              <a:t>시각 완성도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257799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음식 사진과 따뜻한 컬러 시스템 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916357"/>
            <a:ext cx="530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https://quin471.github.io/recipe_website/index.html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02 / SITE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C7168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웹페이지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6C7168"/>
                </a:solidFill>
                <a:latin typeface="Aptos"/>
              </a:rPr>
              <a:t>역할이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분명한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4개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페이지로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콘텐츠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탐색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흐름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설계</a:t>
            </a:r>
            <a:endParaRPr sz="1300" b="0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965960"/>
            <a:ext cx="53492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176272"/>
            <a:ext cx="502920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22951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1488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메인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5054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986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대표 배너와 사이트 소개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오늘의 추천 레시피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인기 요리 · 카테고리 바로가기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965960"/>
            <a:ext cx="53492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37959" y="2176272"/>
            <a:ext cx="502920" cy="457200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5" y="22951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21488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레시피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5054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recipes.html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28986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전체 레시피 카드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한식 · 양식 · 디저트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조리 시간과 난이도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023360"/>
            <a:ext cx="53492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4233672"/>
            <a:ext cx="502920" cy="457200"/>
          </a:xfrm>
          <a:prstGeom prst="roundRect">
            <a:avLst/>
          </a:prstGeom>
          <a:solidFill>
            <a:srgbClr val="FAE6CF"/>
          </a:solidFill>
          <a:ln>
            <a:solidFill>
              <a:srgbClr val="FA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43525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2062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레시피 상세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5628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recipe-detail.html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9560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대표 이미지와 요리 설명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재료 및 조리 순서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인분 수 조절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4023360"/>
            <a:ext cx="53492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37959" y="4233672"/>
            <a:ext cx="502920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0255" y="43525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42062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요리 가이드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45628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guide.html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1" y="49560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기본 조리 도구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식재료 · 계량 단위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초보자 요리 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99632"/>
            <a:ext cx="107899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 dirty="0" err="1">
                <a:solidFill>
                  <a:srgbClr val="355C46"/>
                </a:solidFill>
                <a:latin typeface="Aptos"/>
              </a:rPr>
              <a:t>공통</a:t>
            </a:r>
            <a:r>
              <a:rPr sz="1200" b="1" dirty="0">
                <a:solidFill>
                  <a:srgbClr val="355C46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355C46"/>
                </a:solidFill>
                <a:latin typeface="Aptos"/>
              </a:rPr>
              <a:t>요소</a:t>
            </a:r>
            <a:r>
              <a:rPr sz="1200" b="1" dirty="0">
                <a:solidFill>
                  <a:srgbClr val="355C46"/>
                </a:solidFill>
                <a:latin typeface="Aptos"/>
              </a:rPr>
              <a:t>: </a:t>
            </a:r>
            <a:r>
              <a:rPr sz="1200" b="1" dirty="0" err="1">
                <a:solidFill>
                  <a:srgbClr val="355C46"/>
                </a:solidFill>
                <a:latin typeface="Aptos"/>
              </a:rPr>
              <a:t>헤더</a:t>
            </a:r>
            <a:r>
              <a:rPr sz="1200" b="1" dirty="0">
                <a:solidFill>
                  <a:srgbClr val="355C46"/>
                </a:solidFill>
                <a:latin typeface="Aptos"/>
              </a:rPr>
              <a:t> · </a:t>
            </a:r>
            <a:r>
              <a:rPr sz="1200" b="1" dirty="0" err="1">
                <a:solidFill>
                  <a:srgbClr val="355C46"/>
                </a:solidFill>
                <a:latin typeface="Aptos"/>
              </a:rPr>
              <a:t>내비게이션</a:t>
            </a:r>
            <a:r>
              <a:rPr sz="1200" b="1" dirty="0">
                <a:solidFill>
                  <a:srgbClr val="355C46"/>
                </a:solidFill>
                <a:latin typeface="Aptos"/>
              </a:rPr>
              <a:t> · </a:t>
            </a:r>
            <a:r>
              <a:rPr sz="1200" b="1" dirty="0" err="1">
                <a:solidFill>
                  <a:srgbClr val="355C46"/>
                </a:solidFill>
                <a:latin typeface="Aptos"/>
              </a:rPr>
              <a:t>푸터</a:t>
            </a:r>
            <a:r>
              <a:rPr sz="1200" b="1" dirty="0">
                <a:solidFill>
                  <a:srgbClr val="355C46"/>
                </a:solidFill>
                <a:latin typeface="Aptos"/>
              </a:rPr>
              <a:t> · </a:t>
            </a:r>
            <a:r>
              <a:rPr sz="1200" b="1" dirty="0" err="1">
                <a:solidFill>
                  <a:srgbClr val="355C46"/>
                </a:solidFill>
                <a:latin typeface="Aptos"/>
              </a:rPr>
              <a:t>동일한</a:t>
            </a:r>
            <a:r>
              <a:rPr sz="1200" b="1" dirty="0">
                <a:solidFill>
                  <a:srgbClr val="355C46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355C46"/>
                </a:solidFill>
                <a:latin typeface="Aptos"/>
              </a:rPr>
              <a:t>색상</a:t>
            </a:r>
            <a:r>
              <a:rPr sz="1200" b="1" dirty="0">
                <a:solidFill>
                  <a:srgbClr val="355C46"/>
                </a:solidFill>
                <a:latin typeface="Aptos"/>
              </a:rPr>
              <a:t>/</a:t>
            </a:r>
            <a:r>
              <a:rPr sz="1200" b="1" dirty="0" err="1">
                <a:solidFill>
                  <a:srgbClr val="355C46"/>
                </a:solidFill>
                <a:latin typeface="Aptos"/>
              </a:rPr>
              <a:t>버튼</a:t>
            </a:r>
            <a:r>
              <a:rPr sz="1200" b="1" dirty="0">
                <a:solidFill>
                  <a:srgbClr val="355C46"/>
                </a:solidFill>
                <a:latin typeface="Aptos"/>
              </a:rPr>
              <a:t> </a:t>
            </a:r>
            <a:r>
              <a:rPr sz="1200" b="1" dirty="0" err="1" smtClean="0">
                <a:solidFill>
                  <a:srgbClr val="355C46"/>
                </a:solidFill>
                <a:latin typeface="Aptos"/>
              </a:rPr>
              <a:t>스타일</a:t>
            </a:r>
            <a:endParaRPr sz="1200" b="1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02 / SITE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dirty="0" smtClean="0">
                <a:solidFill>
                  <a:srgbClr val="6C7168"/>
                </a:solidFill>
                <a:latin typeface="Aptos"/>
              </a:rPr>
              <a:t>0</a:t>
            </a:r>
            <a:r>
              <a:rPr lang="en-US" sz="1000" b="1" dirty="0" smtClean="0">
                <a:solidFill>
                  <a:srgbClr val="6C7168"/>
                </a:solidFill>
                <a:latin typeface="Aptos"/>
              </a:rPr>
              <a:t>4</a:t>
            </a:r>
            <a:endParaRPr sz="1000" b="1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웹페이지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6C7168"/>
                </a:solidFill>
                <a:latin typeface="Aptos"/>
              </a:rPr>
              <a:t>역할이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분명한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4개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페이지로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콘텐츠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탐색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흐름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설계</a:t>
            </a:r>
            <a:endParaRPr sz="1300" b="0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2710493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8096" y="2176272"/>
            <a:ext cx="502920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2951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1488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메인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5054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8986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대표 배너와 사이트 소개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오늘의 추천 레시피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인기 요리 · 카테고리 바로가기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196" y="2176272"/>
            <a:ext cx="3653965" cy="3465576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663" y="2176272"/>
            <a:ext cx="4502447" cy="342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9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6"/>
          <p:cNvSpPr/>
          <p:nvPr/>
        </p:nvSpPr>
        <p:spPr>
          <a:xfrm>
            <a:off x="566928" y="1965960"/>
            <a:ext cx="2710493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02 / SITE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dirty="0" smtClean="0">
                <a:solidFill>
                  <a:srgbClr val="6C7168"/>
                </a:solidFill>
                <a:latin typeface="Aptos"/>
              </a:rPr>
              <a:t>0</a:t>
            </a:r>
            <a:r>
              <a:rPr lang="en-US" sz="1000" b="1" dirty="0" smtClean="0">
                <a:solidFill>
                  <a:srgbClr val="6C7168"/>
                </a:solidFill>
                <a:latin typeface="Aptos"/>
              </a:rPr>
              <a:t>5</a:t>
            </a:r>
            <a:endParaRPr sz="1000" b="1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웹페이지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6C7168"/>
                </a:solidFill>
                <a:latin typeface="Aptos"/>
              </a:rPr>
              <a:t>역할이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분명한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4개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페이지로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콘텐츠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탐색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흐름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설계</a:t>
            </a:r>
            <a:endParaRPr sz="1300" b="0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0214" y="2176272"/>
            <a:ext cx="502920" cy="457200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510" y="22951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7727" y="21488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레시피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6871" y="25054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recipes.html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86" y="28986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전체 레시피 카드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한식 · 양식 · 디저트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조리 시간과 난이도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28" y="1072802"/>
            <a:ext cx="5259901" cy="561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25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6"/>
          <p:cNvSpPr/>
          <p:nvPr/>
        </p:nvSpPr>
        <p:spPr>
          <a:xfrm>
            <a:off x="566928" y="1965960"/>
            <a:ext cx="2710493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02 / SITE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dirty="0" smtClean="0">
                <a:solidFill>
                  <a:srgbClr val="6C7168"/>
                </a:solidFill>
                <a:latin typeface="Aptos"/>
              </a:rPr>
              <a:t>0</a:t>
            </a:r>
            <a:r>
              <a:rPr lang="en-US" sz="1000" b="1" dirty="0" smtClean="0">
                <a:solidFill>
                  <a:srgbClr val="6C7168"/>
                </a:solidFill>
                <a:latin typeface="Aptos"/>
              </a:rPr>
              <a:t>6</a:t>
            </a:r>
            <a:endParaRPr sz="1000" b="1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웹페이지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6C7168"/>
                </a:solidFill>
                <a:latin typeface="Aptos"/>
              </a:rPr>
              <a:t>역할이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분명한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4개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페이지로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콘텐츠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탐색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흐름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설계</a:t>
            </a:r>
            <a:endParaRPr sz="1300" b="0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9000" y="2176272"/>
            <a:ext cx="502920" cy="457200"/>
          </a:xfrm>
          <a:prstGeom prst="roundRect">
            <a:avLst/>
          </a:prstGeom>
          <a:solidFill>
            <a:srgbClr val="FAE6CF"/>
          </a:solidFill>
          <a:ln>
            <a:solidFill>
              <a:srgbClr val="FA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296" y="22951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6512" y="21488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레시피 상세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5656" y="25054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recipe-detail.html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872" y="28986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대표 이미지와 요리 설명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재료 및 조리 순서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인분 수 조절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206402"/>
            <a:ext cx="5476467" cy="52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4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6"/>
          <p:cNvSpPr/>
          <p:nvPr/>
        </p:nvSpPr>
        <p:spPr>
          <a:xfrm>
            <a:off x="566928" y="1965960"/>
            <a:ext cx="2710493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355C46"/>
                </a:solidFill>
                <a:latin typeface="Aptos"/>
              </a:rPr>
              <a:t>02 / SITE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dirty="0" smtClean="0">
                <a:solidFill>
                  <a:srgbClr val="6C7168"/>
                </a:solidFill>
                <a:latin typeface="Aptos"/>
              </a:rPr>
              <a:t>0</a:t>
            </a:r>
            <a:r>
              <a:rPr lang="en-US" sz="1000" b="1" dirty="0" smtClean="0">
                <a:solidFill>
                  <a:srgbClr val="6C7168"/>
                </a:solidFill>
                <a:latin typeface="Aptos"/>
              </a:rPr>
              <a:t>7</a:t>
            </a:r>
            <a:endParaRPr sz="1000" b="1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웹페이지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6C7168"/>
                </a:solidFill>
                <a:latin typeface="Aptos"/>
              </a:rPr>
              <a:t>역할이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분명한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4개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페이지로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콘텐츠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탐색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흐름</a:t>
            </a:r>
            <a:r>
              <a:rPr sz="13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C7168"/>
                </a:solidFill>
                <a:latin typeface="Aptos"/>
              </a:rPr>
              <a:t>설계</a:t>
            </a:r>
            <a:endParaRPr sz="1300" b="0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0206" y="2185068"/>
            <a:ext cx="502920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2502" y="2303940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7719" y="2157636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요리 가이드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6863" y="2514252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guide.html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078" y="2907444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기본 조리 도구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식재료 · 계량 단위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초보자 요리 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38" y="905275"/>
            <a:ext cx="5146391" cy="563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0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altLang="ko-KR" sz="1000" b="1" dirty="0">
                <a:solidFill>
                  <a:srgbClr val="355C46"/>
                </a:solidFill>
                <a:latin typeface="Aptos"/>
              </a:rPr>
              <a:t>02 / SITE MAP</a:t>
            </a:r>
            <a:endParaRPr lang="en-US" altLang="ko-KR" sz="1000" b="1" dirty="0">
              <a:solidFill>
                <a:srgbClr val="355C4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dirty="0" smtClean="0">
                <a:solidFill>
                  <a:srgbClr val="6C7168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6C7168"/>
                </a:solidFill>
                <a:latin typeface="Aptos"/>
              </a:rPr>
              <a:t>8</a:t>
            </a:r>
            <a:endParaRPr sz="1000" b="1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반응형 웹페이지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화면 크기에 따라 카드 수와 메뉴 배치를 조정해 다양한 기기에서 읽기 쉽게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4754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90872"/>
            <a:ext cx="4389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32F"/>
                </a:solidFill>
                <a:latin typeface="Aptos"/>
              </a:rPr>
              <a:t>넓은 화면: 카드 3열 · 가로 메뉴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0574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2267712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TABLET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690872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중간 화면: 카드 2열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1938528"/>
            <a:ext cx="20116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2148840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MOBILE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956048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작은 화면: 카드 1열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486400"/>
            <a:ext cx="10744200" cy="713232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565099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5C46"/>
                </a:solidFill>
                <a:latin typeface="Aptos"/>
              </a:rPr>
              <a:t>적용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650992"/>
            <a:ext cx="8869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32F"/>
                </a:solidFill>
                <a:latin typeface="Aptos"/>
              </a:rPr>
              <a:t>CSS Grid/Flexbox · 미디어 쿼리 · 유동 너비 · 터치하기 쉬운 버튼 · 이미지 비율 유지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717" y="2496312"/>
            <a:ext cx="4030485" cy="187452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388" y="2706624"/>
            <a:ext cx="2201567" cy="144053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2377440"/>
            <a:ext cx="1572768" cy="2298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smtClean="0">
                <a:solidFill>
                  <a:srgbClr val="355C46"/>
                </a:solidFill>
                <a:latin typeface="Aptos"/>
              </a:rPr>
              <a:t>0</a:t>
            </a:r>
            <a:r>
              <a:rPr lang="en-US" sz="1000" b="1" dirty="0" smtClean="0">
                <a:solidFill>
                  <a:srgbClr val="355C46"/>
                </a:solidFill>
                <a:latin typeface="Aptos"/>
              </a:rPr>
              <a:t>3</a:t>
            </a:r>
            <a:r>
              <a:rPr sz="1000" b="1" dirty="0" smtClean="0">
                <a:solidFill>
                  <a:srgbClr val="355C46"/>
                </a:solidFill>
                <a:latin typeface="Aptos"/>
              </a:rPr>
              <a:t> </a:t>
            </a:r>
            <a:r>
              <a:rPr sz="1000" b="1" dirty="0">
                <a:solidFill>
                  <a:srgbClr val="355C46"/>
                </a:solidFill>
                <a:latin typeface="Aptos"/>
              </a:rPr>
              <a:t>/ INTERACTIONS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dirty="0" smtClean="0">
                <a:solidFill>
                  <a:srgbClr val="6C7168"/>
                </a:solidFill>
                <a:latin typeface="Aptos"/>
              </a:rPr>
              <a:t>0</a:t>
            </a:r>
            <a:r>
              <a:rPr lang="en-US" sz="1000" b="1" dirty="0" smtClean="0">
                <a:solidFill>
                  <a:srgbClr val="6C7168"/>
                </a:solidFill>
                <a:latin typeface="Aptos"/>
              </a:rPr>
              <a:t>9</a:t>
            </a:r>
            <a:endParaRPr sz="1000" b="1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27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2900" b="1" dirty="0" smtClean="0">
                <a:solidFill>
                  <a:srgbClr val="30332F"/>
                </a:solidFill>
                <a:latin typeface="Aptos"/>
              </a:rPr>
              <a:t>주요 </a:t>
            </a:r>
            <a:r>
              <a:rPr sz="2900" b="1" dirty="0" smtClean="0">
                <a:solidFill>
                  <a:srgbClr val="30332F"/>
                </a:solidFill>
                <a:latin typeface="Aptos"/>
              </a:rPr>
              <a:t>JavaScript </a:t>
            </a:r>
            <a:r>
              <a:rPr sz="2900" b="1" dirty="0" err="1" smtClean="0">
                <a:solidFill>
                  <a:srgbClr val="30332F"/>
                </a:solidFill>
                <a:latin typeface="Aptos"/>
              </a:rPr>
              <a:t>기능</a:t>
            </a:r>
            <a:endParaRPr sz="2900" b="1" dirty="0">
              <a:solidFill>
                <a:srgbClr val="30332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작지만 사용자가 바로 이해할 수 있는 상호작용을 구현</a:t>
            </a:r>
          </a:p>
        </p:txBody>
      </p:sp>
      <p:sp>
        <p:nvSpPr>
          <p:cNvPr id="30" name="Rounded Rectangle 6"/>
          <p:cNvSpPr/>
          <p:nvPr/>
        </p:nvSpPr>
        <p:spPr>
          <a:xfrm>
            <a:off x="658368" y="201168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7"/>
          <p:cNvSpPr/>
          <p:nvPr/>
        </p:nvSpPr>
        <p:spPr>
          <a:xfrm>
            <a:off x="932688" y="2304288"/>
            <a:ext cx="1143000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2395728"/>
            <a:ext cx="960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기능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2880360"/>
            <a:ext cx="43891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0332F"/>
                </a:solidFill>
                <a:latin typeface="Aptos"/>
              </a:rPr>
              <a:t>카테고리 필터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429000"/>
            <a:ext cx="42976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C7168"/>
                </a:solidFill>
                <a:latin typeface="Aptos"/>
              </a:rPr>
              <a:t>한식 · 양식 · 디저트 버튼을 선택하면
해당 카테고리의 카드만 표시</a:t>
            </a:r>
          </a:p>
        </p:txBody>
      </p:sp>
      <p:sp>
        <p:nvSpPr>
          <p:cNvPr id="35" name="Rounded Rectangle 11"/>
          <p:cNvSpPr/>
          <p:nvPr/>
        </p:nvSpPr>
        <p:spPr>
          <a:xfrm>
            <a:off x="960120" y="4389120"/>
            <a:ext cx="896112" cy="384048"/>
          </a:xfrm>
          <a:prstGeom prst="roundRect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4489704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전체</a:t>
            </a:r>
          </a:p>
        </p:txBody>
      </p:sp>
      <p:sp>
        <p:nvSpPr>
          <p:cNvPr id="37" name="Rounded Rectangle 13"/>
          <p:cNvSpPr/>
          <p:nvPr/>
        </p:nvSpPr>
        <p:spPr>
          <a:xfrm>
            <a:off x="1993391" y="4389120"/>
            <a:ext cx="896112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39111" y="4489704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한식</a:t>
            </a:r>
          </a:p>
        </p:txBody>
      </p:sp>
      <p:sp>
        <p:nvSpPr>
          <p:cNvPr id="39" name="Rounded Rectangle 15"/>
          <p:cNvSpPr/>
          <p:nvPr/>
        </p:nvSpPr>
        <p:spPr>
          <a:xfrm>
            <a:off x="3026663" y="4389120"/>
            <a:ext cx="8961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72383" y="4489704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양식</a:t>
            </a:r>
          </a:p>
        </p:txBody>
      </p:sp>
      <p:sp>
        <p:nvSpPr>
          <p:cNvPr id="41" name="Rounded Rectangle 17"/>
          <p:cNvSpPr/>
          <p:nvPr/>
        </p:nvSpPr>
        <p:spPr>
          <a:xfrm>
            <a:off x="4059935" y="4389120"/>
            <a:ext cx="8961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05655" y="4489704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디저트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074920"/>
            <a:ext cx="4526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개념: addEventListener · dataset · classList</a:t>
            </a:r>
          </a:p>
        </p:txBody>
      </p:sp>
      <p:sp>
        <p:nvSpPr>
          <p:cNvPr id="44" name="Rounded Rectangle 20"/>
          <p:cNvSpPr/>
          <p:nvPr/>
        </p:nvSpPr>
        <p:spPr>
          <a:xfrm>
            <a:off x="6199632" y="201168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21"/>
          <p:cNvSpPr/>
          <p:nvPr/>
        </p:nvSpPr>
        <p:spPr>
          <a:xfrm>
            <a:off x="6473952" y="2304288"/>
            <a:ext cx="1143000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65392" y="2395728"/>
            <a:ext cx="960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기능 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2880360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30332F"/>
                </a:solidFill>
                <a:latin typeface="Aptos"/>
              </a:rPr>
              <a:t>인분 수에 따른 재료 계산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429000"/>
            <a:ext cx="43891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C7168"/>
                </a:solidFill>
                <a:latin typeface="Aptos"/>
              </a:rPr>
              <a:t>기준 2인분에서 인분을 바꾸면
재료 수량이 비율에 맞춰 자동 변경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0528" y="4370832"/>
            <a:ext cx="777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C7168"/>
                </a:solidFill>
                <a:latin typeface="Aptos"/>
              </a:rPr>
              <a:t>인분 수</a:t>
            </a:r>
          </a:p>
        </p:txBody>
      </p:sp>
      <p:sp>
        <p:nvSpPr>
          <p:cNvPr id="50" name="Rounded Rectangle 26"/>
          <p:cNvSpPr/>
          <p:nvPr/>
        </p:nvSpPr>
        <p:spPr>
          <a:xfrm>
            <a:off x="7424927" y="4297680"/>
            <a:ext cx="8961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52359" y="439826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1인분</a:t>
            </a:r>
          </a:p>
        </p:txBody>
      </p:sp>
      <p:sp>
        <p:nvSpPr>
          <p:cNvPr id="52" name="Rounded Rectangle 28"/>
          <p:cNvSpPr/>
          <p:nvPr/>
        </p:nvSpPr>
        <p:spPr>
          <a:xfrm>
            <a:off x="8449055" y="4297680"/>
            <a:ext cx="896112" cy="384048"/>
          </a:xfrm>
          <a:prstGeom prst="roundRect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76487" y="439826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2인분</a:t>
            </a:r>
          </a:p>
        </p:txBody>
      </p:sp>
      <p:sp>
        <p:nvSpPr>
          <p:cNvPr id="54" name="Rounded Rectangle 30"/>
          <p:cNvSpPr/>
          <p:nvPr/>
        </p:nvSpPr>
        <p:spPr>
          <a:xfrm>
            <a:off x="9473184" y="4297680"/>
            <a:ext cx="8961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00615" y="439826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4인분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8" y="5074920"/>
            <a:ext cx="4526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개념: 이벤트 처리 · 숫자 계산 · DOM 변경</a:t>
            </a:r>
          </a:p>
        </p:txBody>
      </p:sp>
    </p:spTree>
    <p:extLst>
      <p:ext uri="{BB962C8B-B14F-4D97-AF65-F5344CB8AC3E}">
        <p14:creationId xmlns:p14="http://schemas.microsoft.com/office/powerpoint/2010/main" val="3769386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smtClean="0">
                <a:solidFill>
                  <a:srgbClr val="355C46"/>
                </a:solidFill>
                <a:latin typeface="Aptos"/>
              </a:rPr>
              <a:t>0</a:t>
            </a:r>
            <a:r>
              <a:rPr lang="en-US" sz="1000" b="1" dirty="0" smtClean="0">
                <a:solidFill>
                  <a:srgbClr val="355C46"/>
                </a:solidFill>
                <a:latin typeface="Aptos"/>
              </a:rPr>
              <a:t>4</a:t>
            </a:r>
            <a:r>
              <a:rPr sz="1000" b="1" dirty="0" smtClean="0">
                <a:solidFill>
                  <a:srgbClr val="355C46"/>
                </a:solidFill>
                <a:latin typeface="Aptos"/>
              </a:rPr>
              <a:t> </a:t>
            </a:r>
            <a:r>
              <a:rPr sz="1000" b="1" dirty="0">
                <a:solidFill>
                  <a:srgbClr val="355C46"/>
                </a:solidFill>
                <a:latin typeface="Aptos"/>
              </a:rPr>
              <a:t>/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1000" b="1" dirty="0" smtClean="0">
                <a:solidFill>
                  <a:srgbClr val="6C7168"/>
                </a:solidFill>
                <a:latin typeface="Aptos"/>
              </a:rPr>
              <a:t>10</a:t>
            </a:r>
            <a:endParaRPr sz="1000" b="1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파일 구조와 구현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단계를 나눠 제작하고, 기능과 화면을 각각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931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PROJECT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70048"/>
            <a:ext cx="3291840" cy="237398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my-recipe-book/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index.html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recipes.html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recipe-detail.html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guide.html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</a:t>
            </a:r>
            <a:r>
              <a:rPr dirty="0" smtClean="0"/>
              <a:t>style.css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</a:t>
            </a:r>
            <a:r>
              <a:rPr lang="en-US" dirty="0" smtClean="0"/>
              <a:t>script</a:t>
            </a:r>
            <a:r>
              <a:rPr dirty="0" smtClean="0"/>
              <a:t>.js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└─ images/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94560"/>
            <a:ext cx="4389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2606040"/>
            <a:ext cx="438912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75504" y="2706624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59689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콘텐츠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260604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레시피 6개 + 상세 레시피 1개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3246120"/>
            <a:ext cx="4389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75504" y="3346703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23697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HTML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324612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4개 페이지와 내비게이션 연결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3886200"/>
            <a:ext cx="438912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75504" y="3986784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87705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CSS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388620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색상·카드·반응형 레이아웃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02352" y="4526279"/>
            <a:ext cx="4389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75504" y="4626864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51713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JavaScript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7" y="4526279"/>
            <a:ext cx="3749039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6C7168"/>
                </a:solidFill>
                <a:latin typeface="Aptos"/>
              </a:rPr>
              <a:t>카테고리</a:t>
            </a:r>
            <a:r>
              <a:rPr sz="1100" b="0" dirty="0">
                <a:solidFill>
                  <a:srgbClr val="6C7168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6C7168"/>
                </a:solidFill>
                <a:latin typeface="Aptos"/>
              </a:rPr>
              <a:t>필터</a:t>
            </a:r>
            <a:r>
              <a:rPr sz="1100" b="0" dirty="0">
                <a:solidFill>
                  <a:srgbClr val="6C7168"/>
                </a:solidFill>
                <a:latin typeface="Aptos"/>
              </a:rPr>
              <a:t> + </a:t>
            </a:r>
            <a:r>
              <a:rPr lang="ko-KR" altLang="en-US" sz="1100" dirty="0" smtClean="0">
                <a:solidFill>
                  <a:srgbClr val="6C7168"/>
                </a:solidFill>
                <a:latin typeface="Aptos"/>
              </a:rPr>
              <a:t>용량</a:t>
            </a:r>
            <a:r>
              <a:rPr sz="1100" b="0" dirty="0" smtClean="0">
                <a:solidFill>
                  <a:srgbClr val="6C7168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6C7168"/>
                </a:solidFill>
                <a:latin typeface="Aptos"/>
              </a:rPr>
              <a:t>계산</a:t>
            </a:r>
            <a:endParaRPr sz="1100" b="0" dirty="0">
              <a:solidFill>
                <a:srgbClr val="6C7168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102352" y="5166360"/>
            <a:ext cx="438912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75504" y="5266944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15721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최종 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516636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링크·모바일·콘솔 오류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2352" y="5897880"/>
            <a:ext cx="6035040" cy="384048"/>
          </a:xfrm>
          <a:prstGeom prst="roundRect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0" y="5998464"/>
            <a:ext cx="5623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tos"/>
              </a:rPr>
              <a:t>완료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기준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: 4페이지 · 6개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이상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구역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· JS </a:t>
            </a:r>
            <a:r>
              <a:rPr sz="1100" b="1" dirty="0" err="1" smtClean="0">
                <a:solidFill>
                  <a:srgbClr val="FFFFFF"/>
                </a:solidFill>
                <a:latin typeface="Aptos"/>
              </a:rPr>
              <a:t>기능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656</Words>
  <Application>Microsoft Office PowerPoint</Application>
  <PresentationFormat>와이드스크린</PresentationFormat>
  <Paragraphs>175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Aptos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오늘의 한 끼 - 레시피 및 요리 도감 웹사이트 기획</dc:title>
  <dc:subject>HTML, CSS, JavaScript 웹사이트 포트폴리오 기획안</dc:subject>
  <dc:creator>OpenAI</dc:creator>
  <cp:keywords>레시피, 요리 도감, 웹사이트, 포트폴리오, 반응형 웹</cp:keywords>
  <dc:description>generated using python-pptx</dc:description>
  <cp:lastModifiedBy>admin</cp:lastModifiedBy>
  <cp:revision>13</cp:revision>
  <dcterms:created xsi:type="dcterms:W3CDTF">2013-01-27T09:14:16Z</dcterms:created>
  <dcterms:modified xsi:type="dcterms:W3CDTF">2026-10-30T01:18:08Z</dcterms:modified>
  <cp:category/>
</cp:coreProperties>
</file>